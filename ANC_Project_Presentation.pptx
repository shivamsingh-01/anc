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3200400"/>
          </a:xfrm>
          <a:prstGeom prst="rect">
            <a:avLst/>
          </a:prstGeom>
          <a:solidFill>
            <a:srgbClr val="0072B5">
              <a:alpha val="20000"/>
            </a:srgbClr>
          </a:solidFill>
          <a:ln w="12700">
            <a:solidFill>
              <a:srgbClr val="0072B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2286000"/>
          </a:xfrm>
          <a:prstGeom prst="rect">
            <a:avLst/>
          </a:prstGeom>
          <a:solidFill>
            <a:srgbClr val="00C6FF">
              <a:alpha val="12000"/>
            </a:srgbClr>
          </a:solidFill>
          <a:ln w="12700">
            <a:solidFill>
              <a:srgbClr val="00C6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54864" cy="22860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NOISE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CANCELLATION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/ NLMS Adaptive Filtering — Software Implementation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920240" cy="82296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730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dB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133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Improvement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703320"/>
            <a:ext cx="1920240" cy="82296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3730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4133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703320"/>
            <a:ext cx="1920240" cy="82296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730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Hz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4133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Target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3703320"/>
            <a:ext cx="1920240" cy="82296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730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4133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4800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6th Semester  ·  Jalpaiguri Government Engineering College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Adaptive Noise Cancellation?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3931920" cy="182880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uses a reference noise signal and an adaptive filter to estimate and subtract unwanted noise from a primary signal in real 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41248"/>
            <a:ext cx="4114800" cy="182880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1298448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61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Noise-cancelling headphones (Sony, Bose)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1545336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cockpit communication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1792224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7556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/ EEG biomedical signal processing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2039112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025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Power-line hum removal in audio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2286000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494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&amp; radar signal processing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1965960" cy="777240"/>
          </a:xfrm>
          <a:prstGeom prst="rect">
            <a:avLst/>
          </a:prstGeom>
          <a:solidFill>
            <a:srgbClr val="0F2A40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077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mic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227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d(n) = signal + noise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3264408"/>
            <a:ext cx="182880" cy="0"/>
          </a:xfrm>
          <a:prstGeom prst="line">
            <a:avLst/>
          </a:prstGeom>
          <a:noFill/>
          <a:ln w="12700">
            <a:solidFill>
              <a:srgbClr val="7BA9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2880360"/>
            <a:ext cx="1965960" cy="777240"/>
          </a:xfrm>
          <a:prstGeom prst="rect">
            <a:avLst/>
          </a:prstGeom>
          <a:solidFill>
            <a:srgbClr val="0F2A40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9077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mic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227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x(n) = noise 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3264408"/>
            <a:ext cx="182880" cy="0"/>
          </a:xfrm>
          <a:prstGeom prst="line">
            <a:avLst/>
          </a:prstGeom>
          <a:noFill/>
          <a:ln w="12700">
            <a:solidFill>
              <a:srgbClr val="7BA9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880360"/>
            <a:ext cx="1965960" cy="777240"/>
          </a:xfrm>
          <a:prstGeom prst="rect">
            <a:avLst/>
          </a:prstGeom>
          <a:solidFill>
            <a:srgbClr val="0F2A40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9077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filter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227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W(n) — updates per LMS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3264408"/>
            <a:ext cx="182880" cy="0"/>
          </a:xfrm>
          <a:prstGeom prst="line">
            <a:avLst/>
          </a:prstGeom>
          <a:noFill/>
          <a:ln w="12700">
            <a:solidFill>
              <a:srgbClr val="7BA9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2880360"/>
            <a:ext cx="1965960" cy="777240"/>
          </a:xfrm>
          <a:prstGeom prst="rect">
            <a:avLst/>
          </a:prstGeom>
          <a:solidFill>
            <a:srgbClr val="0F2A40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9077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227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e(n) ≈ clean signal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37490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Feedback loop: e(n) drives the LMS update of W(n)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LMS Algorithm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2651760" cy="2286000"/>
          </a:xfrm>
          <a:prstGeom prst="rect">
            <a:avLst/>
          </a:prstGeom>
          <a:solidFill>
            <a:srgbClr val="0F2A40"/>
          </a:solidFill>
          <a:ln w="635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14400"/>
            <a:ext cx="329184" cy="329184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9326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325880"/>
            <a:ext cx="2423160" cy="475488"/>
          </a:xfrm>
          <a:prstGeom prst="rect">
            <a:avLst/>
          </a:prstGeom>
          <a:solidFill>
            <a:srgbClr val="071F30"/>
          </a:solidFill>
          <a:ln w="6350">
            <a:solidFill>
              <a:srgbClr val="0072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258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y(n) = W(n) · X(n)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87452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of weight vector W and input buffer X gives the noise estimate y(n)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51760" cy="2286000"/>
          </a:xfrm>
          <a:prstGeom prst="rect">
            <a:avLst/>
          </a:prstGeom>
          <a:solidFill>
            <a:srgbClr val="0F2A40"/>
          </a:solidFill>
          <a:ln w="635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914400"/>
            <a:ext cx="329184" cy="329184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14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9326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Signal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1325880"/>
            <a:ext cx="2423160" cy="475488"/>
          </a:xfrm>
          <a:prstGeom prst="rect">
            <a:avLst/>
          </a:prstGeom>
          <a:solidFill>
            <a:srgbClr val="071F30"/>
          </a:solidFill>
          <a:ln w="6350">
            <a:solidFill>
              <a:srgbClr val="0072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3258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e(n) = d(n) − y(n)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87452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 minus noise estimate — this is the recovered clean signal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868680"/>
            <a:ext cx="2651760" cy="2286000"/>
          </a:xfrm>
          <a:prstGeom prst="rect">
            <a:avLst/>
          </a:prstGeom>
          <a:solidFill>
            <a:srgbClr val="0F2A40"/>
          </a:solidFill>
          <a:ln w="635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914400"/>
            <a:ext cx="329184" cy="329184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914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9326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 Update (LMS)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44768" y="1325880"/>
            <a:ext cx="2423160" cy="475488"/>
          </a:xfrm>
          <a:prstGeom prst="rect">
            <a:avLst/>
          </a:prstGeom>
          <a:solidFill>
            <a:srgbClr val="071F30"/>
          </a:solidFill>
          <a:ln w="6350">
            <a:solidFill>
              <a:srgbClr val="0072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13258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W(n+1) = W(n) + 2μ · e(n) · X(n)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4768" y="187452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step: μ is step size, e(n)·X(n) is the instantaneous gradient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5029200" cy="1371600"/>
          </a:xfrm>
          <a:prstGeom prst="rect">
            <a:avLst/>
          </a:prstGeom>
          <a:solidFill>
            <a:srgbClr val="0F2A40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3649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NLMS — Normalized Variant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4617720" cy="438912"/>
          </a:xfrm>
          <a:prstGeom prst="rect">
            <a:avLst/>
          </a:prstGeom>
          <a:solidFill>
            <a:srgbClr val="071F30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03320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W(n+1) = W(n) + (μ / ‖X(n)‖²) · e(n) · X(n)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77840" y="3291840"/>
            <a:ext cx="3200400" cy="1371600"/>
          </a:xfrm>
          <a:prstGeom prst="rect">
            <a:avLst/>
          </a:prstGeom>
          <a:solidFill>
            <a:srgbClr val="0F2A40"/>
          </a:solidFill>
          <a:ln w="63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33649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μ (step size)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87568" y="3749040"/>
            <a:ext cx="73152" cy="7315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33872" y="371246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too large → unstable (diverges)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87568" y="4005072"/>
            <a:ext cx="73152" cy="7315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39684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too small → slow convergence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87568" y="4261104"/>
            <a:ext cx="73152" cy="7315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42245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range: 0.001 – 0.05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Implementation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937760" cy="4023360"/>
          </a:xfrm>
          <a:prstGeom prst="rect">
            <a:avLst/>
          </a:prstGeom>
          <a:solidFill>
            <a:srgbClr val="07131C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86968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LMSFilter: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order=64, mu=0.005):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     = np.zeros(order)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self.x_buf = np.zeros(order)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self.mu    = mu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update(self, x_n, d_n):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self.x_buf = np.roll(self.x_buf, 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self.x_buf[0] = x_n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y_n  = np.dot(self.w, self.x_buf)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e_n  = d_n - y_n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 += 2 * self.mu * e_n * self.x_buf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e_n   # recovered signal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12664" y="1143000"/>
            <a:ext cx="292608" cy="0"/>
          </a:xfrm>
          <a:prstGeom prst="line">
            <a:avLst/>
          </a:prstGeom>
          <a:noFill/>
          <a:ln w="10160">
            <a:solidFill>
              <a:srgbClr val="00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1033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weights initialised to zero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12664" y="1536192"/>
            <a:ext cx="292608" cy="0"/>
          </a:xfrm>
          <a:prstGeom prst="line">
            <a:avLst/>
          </a:prstGeom>
          <a:noFill/>
          <a:ln w="10160">
            <a:solidFill>
              <a:srgbClr val="00C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4264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input buffer (last N samples)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12664" y="2331720"/>
            <a:ext cx="292608" cy="0"/>
          </a:xfrm>
          <a:prstGeom prst="line">
            <a:avLst/>
          </a:prstGeom>
          <a:noFill/>
          <a:ln w="1016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221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new sample into buffer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12664" y="3035808"/>
            <a:ext cx="292608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y(n) — noise estimate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12664" y="3337560"/>
            <a:ext cx="292608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227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e(n) = d(n) − y(n)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12664" y="3657600"/>
            <a:ext cx="292608" cy="0"/>
          </a:xfrm>
          <a:prstGeom prst="line">
            <a:avLst/>
          </a:prstGeom>
          <a:noFill/>
          <a:ln w="1016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3547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weight update equation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3429000"/>
            <a:ext cx="3200400" cy="137160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3493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87568" y="3822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  — arrays &amp; DSP math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87568" y="40416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   — signal analysis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87568" y="42611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— plotting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87568" y="4480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sounddevice — live audio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41248"/>
            <a:ext cx="62179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841248"/>
            <a:ext cx="2103120" cy="1078992"/>
          </a:xfrm>
          <a:prstGeom prst="rect">
            <a:avLst/>
          </a:prstGeom>
          <a:solidFill>
            <a:srgbClr val="0F2A40"/>
          </a:solidFill>
          <a:ln w="63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2084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−3.9 dB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720840" y="14356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before ANC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20840" y="2103120"/>
            <a:ext cx="2103120" cy="1078992"/>
          </a:xfrm>
          <a:prstGeom prst="rect">
            <a:avLst/>
          </a:prstGeom>
          <a:solidFill>
            <a:srgbClr val="0F2A40"/>
          </a:solidFill>
          <a:ln w="635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20840" y="22219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+5.1 dB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20840" y="2697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after LMS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720840" y="3364992"/>
            <a:ext cx="2103120" cy="1078992"/>
          </a:xfrm>
          <a:prstGeom prst="rect">
            <a:avLst/>
          </a:prstGeom>
          <a:solidFill>
            <a:srgbClr val="0F2A40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20840" y="3483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+9.0 dB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20840" y="3959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0040" y="46177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300+800 Hz speech | 50 Hz power-line noise | LMS order=64 | μ=0.005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vs NLMS — Algorithm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52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Property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52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LMS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7152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NLMS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Update rule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+= 2μ · e · 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+= (μ / ‖X‖²) · e · 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Step size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(normalized)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Convergence speed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Stability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signal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robust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Complexity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N filter taps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+ 1 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used when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is roughly constant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amplitude 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0F2A40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42062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project we implement both. LMS is simpler and sufficient for steady hum. NLMS performs better when noise amplitude fluctuates (e.g. engine vibration).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1737360" cy="658368"/>
          </a:xfrm>
          <a:prstGeom prst="rect">
            <a:avLst/>
          </a:prstGeom>
          <a:solidFill>
            <a:srgbClr val="0F2A40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064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99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input d(n)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1737360" cy="658368"/>
          </a:xfrm>
          <a:prstGeom prst="rect">
            <a:avLst/>
          </a:prstGeom>
          <a:solidFill>
            <a:srgbClr val="0F2A40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12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Sine gen.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4048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x(n) @ 50Hz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1828800" cy="658368"/>
          </a:xfrm>
          <a:prstGeom prst="rect">
            <a:avLst/>
          </a:prstGeom>
          <a:solidFill>
            <a:srgbClr val="0F2A40"/>
          </a:solidFill>
          <a:ln w="15240">
            <a:solidFill>
              <a:srgbClr val="00C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63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Filter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order=64, μ=0.01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83480" y="1508760"/>
            <a:ext cx="1828800" cy="658368"/>
          </a:xfrm>
          <a:prstGeom prst="rect">
            <a:avLst/>
          </a:prstGeom>
          <a:solidFill>
            <a:srgbClr val="0F2A40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63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output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856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e(n) ≈ clean speech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23760" y="1508760"/>
            <a:ext cx="1645920" cy="658368"/>
          </a:xfrm>
          <a:prstGeom prst="rect">
            <a:avLst/>
          </a:prstGeom>
          <a:solidFill>
            <a:srgbClr val="0F2A40"/>
          </a:solidFill>
          <a:ln w="15240">
            <a:solidFill>
              <a:srgbClr val="0072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5636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2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856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waveform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1380744"/>
            <a:ext cx="530352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011680" y="2386584"/>
            <a:ext cx="530352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407408" y="1837944"/>
            <a:ext cx="548640" cy="0"/>
          </a:xfrm>
          <a:prstGeom prst="line">
            <a:avLst/>
          </a:prstGeom>
          <a:noFill/>
          <a:ln w="12700">
            <a:solidFill>
              <a:srgbClr val="00C6FF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830568" y="1837944"/>
            <a:ext cx="36576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983480" y="2395728"/>
            <a:ext cx="-2404872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dash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3017520" y="2542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e(n) feedback → weight update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4023360" cy="1828800"/>
          </a:xfrm>
          <a:prstGeom prst="rect">
            <a:avLst/>
          </a:prstGeom>
          <a:solidFill>
            <a:srgbClr val="0F2A40"/>
          </a:solidFill>
          <a:ln w="635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3035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364992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Offline demo (no mic needed)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anc_live_demo.py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Real-time mic 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anc_live_demo.py --live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2971800"/>
            <a:ext cx="4297680" cy="1828800"/>
          </a:xfrm>
          <a:prstGeom prst="rect">
            <a:avLst/>
          </a:prstGeom>
          <a:solidFill>
            <a:srgbClr val="0F2A40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0288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429000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832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Block-by-block real-time processing (512 samples)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675888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3016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reference at target frequency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922776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87705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dual-panel waveform display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4169664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12394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single-mic laptop setup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7720" y="4416552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37083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to stop cleanly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0F2A40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9.0 dB SNR improvement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filter, 50 Hz target noise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0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algorithm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276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and NLMS both implemented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32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ready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mic processing with animation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090672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44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proof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3009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confirms 50 Hz spike eliminated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602736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57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Python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813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 — no MATLAB needed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005840"/>
            <a:ext cx="4206240" cy="3474720"/>
          </a:xfrm>
          <a:prstGeom prst="rect">
            <a:avLst/>
          </a:prstGeom>
          <a:solidFill>
            <a:srgbClr val="0F2A40"/>
          </a:solidFill>
          <a:ln w="635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36592" y="1554480"/>
            <a:ext cx="73152" cy="7315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5087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RLS algorithm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73752" y="176479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Least Squares — faster convergence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2066544"/>
            <a:ext cx="73152" cy="7315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02082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ANC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3752" y="227685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CNN/LSTM-based noise cancellation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6592" y="2578608"/>
            <a:ext cx="73152" cy="7315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532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Multi-channel ANC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278892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/ spatial noise suppression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36592" y="3090672"/>
            <a:ext cx="73152" cy="7315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0449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deployment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73752" y="330098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/ Raspberry Pi implementation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3602736"/>
            <a:ext cx="73152" cy="7315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55701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audio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73752" y="38130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recorded speech + noise files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2803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Jalpaiguri Government Engineering College  ·  Electronics &amp; Communication Engineering  ·  6th Semester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Noise Cancellation</dc:title>
  <dc:subject>PptxGenJS Presentation</dc:subject>
  <dc:creator>ECE 6th Semester Project</dc:creator>
  <cp:lastModifiedBy>ECE 6th Semester Project</cp:lastModifiedBy>
  <cp:revision>1</cp:revision>
  <dcterms:created xsi:type="dcterms:W3CDTF">2026-05-07T19:04:41Z</dcterms:created>
  <dcterms:modified xsi:type="dcterms:W3CDTF">2026-05-07T19:04:41Z</dcterms:modified>
</cp:coreProperties>
</file>